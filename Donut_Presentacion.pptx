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92024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Calibri"/>
              </a:rPr>
              <a:t>🍩 Donut</a:t>
            </a:r>
          </a:p>
          <a:p>
            <a:pPr algn="l">
              <a:spcBef>
                <a:spcPts val="800"/>
              </a:spcBef>
            </a:pPr>
            <a:r>
              <a:rPr sz="3000" b="1">
                <a:solidFill>
                  <a:srgbClr val="E8F1FA"/>
                </a:solidFill>
                <a:latin typeface="Calibri"/>
              </a:rPr>
              <a:t>OCR-free Document Understanding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93192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Calibri"/>
              </a:rPr>
              <a:t>Cómo funciona el modelo: de la imagen de entrada al JSON de salida</a:t>
            </a:r>
          </a:p>
          <a:p>
            <a:pPr algn="l">
              <a:spcBef>
                <a:spcPts val="1600"/>
              </a:spcBef>
            </a:pPr>
            <a:r>
              <a:rPr sz="1600" b="0">
                <a:solidFill>
                  <a:srgbClr val="E8F1FA"/>
                </a:solidFill>
                <a:latin typeface="Calibri"/>
              </a:rPr>
              <a:t>Paper: Kim et al., ECCV 2022  ·  arXiv:2111.15664</a:t>
            </a:r>
          </a:p>
          <a:p>
            <a:pPr algn="l">
              <a:spcBef>
                <a:spcPts val="400"/>
              </a:spcBef>
            </a:pPr>
            <a:r>
              <a:rPr sz="1600" b="0">
                <a:solidFill>
                  <a:srgbClr val="E8F1FA"/>
                </a:solidFill>
                <a:latin typeface="Calibri"/>
              </a:rPr>
              <a:t>naver-clova-ix/donut-base  ·  Swin Transformer + Transformer Decoder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2560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E8F1FA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E59"/>
                </a:solidFill>
                <a:latin typeface="Calibri"/>
              </a:rPr>
              <a:t>1.  El problema: OCR tradicional vs Donut</a:t>
            </a:r>
          </a:p>
          <a:p>
            <a:pPr algn="l">
              <a:spcBef>
                <a:spcPts val="1000"/>
              </a:spcBef>
            </a:pPr>
            <a:r>
              <a:rPr sz="2200" b="0">
                <a:solidFill>
                  <a:srgbClr val="3C3C3C"/>
                </a:solidFill>
                <a:latin typeface="Calibri"/>
              </a:rPr>
              <a:t>2.  Entrada (Input): la imagen del documento</a:t>
            </a:r>
          </a:p>
          <a:p>
            <a:pPr algn="l">
              <a:spcBef>
                <a:spcPts val="1000"/>
              </a:spcBef>
            </a:pPr>
            <a:r>
              <a:rPr sz="2200" b="0">
                <a:solidFill>
                  <a:srgbClr val="3C3C3C"/>
                </a:solidFill>
                <a:latin typeface="Calibri"/>
              </a:rPr>
              <a:t>3.  Encoder — Swin Transformer</a:t>
            </a:r>
          </a:p>
          <a:p>
            <a:pPr algn="l">
              <a:spcBef>
                <a:spcPts val="1000"/>
              </a:spcBef>
            </a:pPr>
            <a:r>
              <a:rPr sz="2200" b="0">
                <a:solidFill>
                  <a:srgbClr val="3C3C3C"/>
                </a:solidFill>
                <a:latin typeface="Calibri"/>
              </a:rPr>
              <a:t>4.  Decoder — Transformer autoregresivo</a:t>
            </a:r>
          </a:p>
          <a:p>
            <a:pPr algn="l">
              <a:spcBef>
                <a:spcPts val="1000"/>
              </a:spcBef>
            </a:pPr>
            <a:r>
              <a:rPr sz="2200" b="0">
                <a:solidFill>
                  <a:srgbClr val="3C3C3C"/>
                </a:solidFill>
                <a:latin typeface="Calibri"/>
              </a:rPr>
              <a:t>5.  Cross-Attention (el punto clave)</a:t>
            </a:r>
          </a:p>
          <a:p>
            <a:pPr algn="l">
              <a:spcBef>
                <a:spcPts val="1000"/>
              </a:spcBef>
            </a:pPr>
            <a:r>
              <a:rPr sz="2200" b="0">
                <a:solidFill>
                  <a:srgbClr val="3C3C3C"/>
                </a:solidFill>
                <a:latin typeface="Calibri"/>
              </a:rPr>
              <a:t>6.  Flujo completo: imagen → encoder → cross-attn → decoder → JSON</a:t>
            </a:r>
          </a:p>
          <a:p>
            <a:pPr algn="l">
              <a:spcBef>
                <a:spcPts val="1000"/>
              </a:spcBef>
            </a:pPr>
            <a:r>
              <a:rPr sz="2200" b="0">
                <a:solidFill>
                  <a:srgbClr val="3C3C3C"/>
                </a:solidFill>
                <a:latin typeface="Calibri"/>
              </a:rPr>
              <a:t>7.  Salida (Output): texto / JSON estructurado</a:t>
            </a:r>
          </a:p>
          <a:p>
            <a:pPr algn="l">
              <a:spcBef>
                <a:spcPts val="1000"/>
              </a:spcBef>
            </a:pPr>
            <a:r>
              <a:rPr sz="2200" b="0">
                <a:solidFill>
                  <a:srgbClr val="3C3C3C"/>
                </a:solidFill>
                <a:latin typeface="Calibri"/>
              </a:rPr>
              <a:t>8.  Entrenamiento y pre-entrenamiento</a:t>
            </a:r>
          </a:p>
          <a:p>
            <a:pPr algn="l">
              <a:spcBef>
                <a:spcPts val="1000"/>
              </a:spcBef>
            </a:pPr>
            <a:r>
              <a:rPr sz="2200" b="0">
                <a:solidFill>
                  <a:srgbClr val="3C3C3C"/>
                </a:solidFill>
                <a:latin typeface="Calibri"/>
              </a:rPr>
              <a:t>9.  Resultados y tipos de documentos</a:t>
            </a:r>
          </a:p>
          <a:p>
            <a:pPr algn="l">
              <a:spcBef>
                <a:spcPts val="1000"/>
              </a:spcBef>
            </a:pPr>
            <a:r>
              <a:rPr sz="2200" b="0">
                <a:solidFill>
                  <a:srgbClr val="3C3C3C"/>
                </a:solidFill>
                <a:latin typeface="Calibri"/>
              </a:rPr>
              <a:t>10. Ventajas, limitaciones y conclusión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1. El problema: OCR tradicional vs Donut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2560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E8F1FA"/>
                </a:solidFill>
                <a:latin typeface="Calibri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B2E59"/>
                </a:solidFill>
                <a:latin typeface="Calibri"/>
              </a:rPr>
              <a:t>PIPELINE TRADICIONAL (con OCR externo)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65960"/>
            <a:ext cx="21031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C3C3C"/>
                </a:solidFill>
                <a:latin typeface="Calibri"/>
              </a:rPr>
              <a:t>Imagen</a:t>
            </a:r>
          </a:p>
        </p:txBody>
      </p:sp>
      <p:sp>
        <p:nvSpPr>
          <p:cNvPr id="6" name="Internal Storage 5"/>
          <p:cNvSpPr/>
          <p:nvPr/>
        </p:nvSpPr>
        <p:spPr>
          <a:xfrm>
            <a:off x="2926080" y="2194560"/>
            <a:ext cx="548640" cy="411480"/>
          </a:xfrm>
          <a:prstGeom prst="flowChartInternalStorag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66160" y="1965960"/>
            <a:ext cx="2103120" cy="822960"/>
          </a:xfrm>
          <a:prstGeom prst="rect">
            <a:avLst/>
          </a:prstGeom>
          <a:solidFill>
            <a:srgbClr val="F6D6D6"/>
          </a:solidFill>
          <a:ln w="19050">
            <a:solidFill>
              <a:srgbClr val="C0393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C3C3C"/>
                </a:solidFill>
                <a:latin typeface="Calibri"/>
              </a:rPr>
              <a:t>OCR externo
(reconoce texto)</a:t>
            </a:r>
          </a:p>
        </p:txBody>
      </p:sp>
      <p:sp>
        <p:nvSpPr>
          <p:cNvPr id="8" name="Internal Storage 7"/>
          <p:cNvSpPr/>
          <p:nvPr/>
        </p:nvSpPr>
        <p:spPr>
          <a:xfrm>
            <a:off x="5760720" y="2194560"/>
            <a:ext cx="548640" cy="411480"/>
          </a:xfrm>
          <a:prstGeom prst="flowChartInternalStorag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965960"/>
            <a:ext cx="18288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C3C3C"/>
                </a:solidFill>
                <a:latin typeface="Calibri"/>
              </a:rPr>
              <a:t>Texto</a:t>
            </a:r>
          </a:p>
        </p:txBody>
      </p:sp>
      <p:sp>
        <p:nvSpPr>
          <p:cNvPr id="10" name="Internal Storage 9"/>
          <p:cNvSpPr/>
          <p:nvPr/>
        </p:nvSpPr>
        <p:spPr>
          <a:xfrm>
            <a:off x="8321040" y="2194560"/>
            <a:ext cx="548640" cy="411480"/>
          </a:xfrm>
          <a:prstGeom prst="flowChartInternalStorag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0" y="1965960"/>
            <a:ext cx="274320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C3C3C"/>
                </a:solidFill>
                <a:latin typeface="Calibri"/>
              </a:rPr>
              <a:t>Modelo NLP → Salida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03939"/>
                </a:solidFill>
                <a:latin typeface="Calibri"/>
              </a:rPr>
              <a:t>⚠️  Los errores del OCR se propagan · más lento · más caro · pipeline en 2 etapas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49039"/>
            <a:ext cx="11064240" cy="457200"/>
          </a:xfrm>
          <a:prstGeom prst="rect">
            <a:avLst/>
          </a:prstGeom>
          <a:solidFill>
            <a:srgbClr val="E8F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E8B57"/>
                </a:solidFill>
                <a:latin typeface="Calibri"/>
              </a:rPr>
              <a:t>PIPELINE DONUT (OCR-free, end-to-end)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343400"/>
            <a:ext cx="21031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0">
                <a:solidFill>
                  <a:srgbClr val="3C3C3C"/>
                </a:solidFill>
                <a:latin typeface="Calibri"/>
              </a:rPr>
              <a:t>Imagen</a:t>
            </a:r>
          </a:p>
        </p:txBody>
      </p:sp>
      <p:sp>
        <p:nvSpPr>
          <p:cNvPr id="15" name="Internal Storage 14"/>
          <p:cNvSpPr/>
          <p:nvPr/>
        </p:nvSpPr>
        <p:spPr>
          <a:xfrm>
            <a:off x="2926080" y="4572000"/>
            <a:ext cx="548640" cy="411480"/>
          </a:xfrm>
          <a:prstGeom prst="flowChartInternalStorag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4343400"/>
            <a:ext cx="2377440" cy="822960"/>
          </a:xfrm>
          <a:prstGeom prst="rect">
            <a:avLst/>
          </a:prstGeom>
          <a:solidFill>
            <a:srgbClr val="E8F1FA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C3C3C"/>
                </a:solidFill>
                <a:latin typeface="Calibri"/>
              </a:rPr>
              <a:t>Encoder
(Swin)</a:t>
            </a:r>
          </a:p>
        </p:txBody>
      </p:sp>
      <p:sp>
        <p:nvSpPr>
          <p:cNvPr id="17" name="Internal Storage 16"/>
          <p:cNvSpPr/>
          <p:nvPr/>
        </p:nvSpPr>
        <p:spPr>
          <a:xfrm>
            <a:off x="6035040" y="4572000"/>
            <a:ext cx="548640" cy="411480"/>
          </a:xfrm>
          <a:prstGeom prst="flowChartInternalStorage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75120" y="4343400"/>
            <a:ext cx="2377440" cy="822960"/>
          </a:xfrm>
          <a:prstGeom prst="rect">
            <a:avLst/>
          </a:prstGeom>
          <a:solidFill>
            <a:srgbClr val="FCE4CB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87A1E"/>
                </a:solidFill>
                <a:latin typeface="Calibri"/>
              </a:rPr>
              <a:t>Cross-Attention</a:t>
            </a:r>
          </a:p>
        </p:txBody>
      </p:sp>
      <p:sp>
        <p:nvSpPr>
          <p:cNvPr id="19" name="Internal Storage 18"/>
          <p:cNvSpPr/>
          <p:nvPr/>
        </p:nvSpPr>
        <p:spPr>
          <a:xfrm>
            <a:off x="9144000" y="4572000"/>
            <a:ext cx="548640" cy="411480"/>
          </a:xfrm>
          <a:prstGeom prst="flowChartInternalStorage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92640" y="4343400"/>
            <a:ext cx="1920240" cy="822960"/>
          </a:xfrm>
          <a:prstGeom prst="rect">
            <a:avLst/>
          </a:prstGeom>
          <a:solidFill>
            <a:srgbClr val="E8F1FA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3C3C3C"/>
                </a:solidFill>
                <a:latin typeface="Calibri"/>
              </a:rPr>
              <a:t>Decoder
→ 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57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E8B57"/>
                </a:solidFill>
                <a:latin typeface="Calibri"/>
              </a:rPr>
              <a:t>✅  La imagen entra directo al modelo · sin OCR · entrenado de punta a punta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2. Entrada (Input)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2560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E8F1FA"/>
                </a:solidFill>
                <a:latin typeface="Calibri"/>
              </a:rP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4206240" y="1371600"/>
            <a:ext cx="3749039" cy="2103120"/>
          </a:xfrm>
          <a:prstGeom prst="rect">
            <a:avLst/>
          </a:prstGeom>
          <a:solidFill>
            <a:srgbClr val="E8F1FA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2E59"/>
                </a:solidFill>
                <a:latin typeface="Calibri"/>
              </a:rPr>
              <a:t>🧾
Imagen del documento
(factura, matrícula,
recibo, formulario)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49039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C3C3C"/>
                </a:solidFill>
                <a:latin typeface="Calibri"/>
              </a:rPr>
              <a:t>•  La imagen del documento (por ejemplo 2560×1920 px, RGB)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3C3C3C"/>
                </a:solidFill>
                <a:latin typeface="Calibri"/>
              </a:rPr>
              <a:t>•  NO requiere preprocesamiento externo ni un formato específico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3C3C3C"/>
                </a:solidFill>
                <a:latin typeface="Calibri"/>
              </a:rPr>
              <a:t>•  NO se ejecuta OCR previo: la imagen va directamente al modelo</a:t>
            </a:r>
          </a:p>
          <a:p>
            <a:pPr algn="l">
              <a:spcBef>
                <a:spcPts val="600"/>
              </a:spcBef>
            </a:pPr>
            <a:r>
              <a:rPr sz="2000" b="0">
                <a:solidFill>
                  <a:srgbClr val="3C3C3C"/>
                </a:solidFill>
                <a:latin typeface="Calibri"/>
              </a:rPr>
              <a:t>•  El processor de Donut solo redimensiona y normaliza la imagen → pixel_values</a:t>
            </a:r>
          </a:p>
          <a:p>
            <a:pPr algn="l">
              <a:spcBef>
                <a:spcPts val="1000"/>
              </a:spcBef>
            </a:pPr>
            <a:r>
              <a:rPr sz="1800" b="0">
                <a:solidFill>
                  <a:srgbClr val="1F6FB2"/>
                </a:solidFill>
                <a:latin typeface="Calibri"/>
              </a:rPr>
              <a:t>•  Ejemplo de tensor de entrada: (batch, 3 canales, alto, ancho)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3. Encoder — Swin Transformer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2560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E8F1FA"/>
                </a:solidFill>
                <a:latin typeface="Calibri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E59"/>
                </a:solidFill>
                <a:latin typeface="Calibri"/>
              </a:rPr>
              <a:t>¿Qué es?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Un Swin Transformer que actúa como vision encoder: convierte la imagen en una secuencia de vectores visuales.</a:t>
            </a:r>
          </a:p>
          <a:p>
            <a:pPr algn="l">
              <a:spcBef>
                <a:spcPts val="1400"/>
              </a:spcBef>
            </a:pPr>
            <a:r>
              <a:rPr sz="2200" b="1">
                <a:solidFill>
                  <a:srgbClr val="0B2E59"/>
                </a:solidFill>
                <a:latin typeface="Calibri"/>
              </a:rPr>
              <a:t>¿Cómo funciona?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Divide la imagen en patches (patch embedding)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4 stages jerárquicos con capas de atención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Shifted windows: atención por ventanas desplazadas (eficiente)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1F6FB2"/>
                </a:solidFill>
                <a:latin typeface="Calibri"/>
              </a:rPr>
              <a:t>•  Salida: secuencia de vectores de dimensión D</a:t>
            </a:r>
          </a:p>
        </p:txBody>
      </p:sp>
      <p:sp>
        <p:nvSpPr>
          <p:cNvPr id="5" name="Rectangle 4"/>
          <p:cNvSpPr/>
          <p:nvPr/>
        </p:nvSpPr>
        <p:spPr>
          <a:xfrm>
            <a:off x="6766560" y="1371600"/>
            <a:ext cx="4754880" cy="45720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Reducción jerárquica (4 stages)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2011680"/>
            <a:ext cx="4206240" cy="566928"/>
          </a:xfrm>
          <a:prstGeom prst="rect">
            <a:avLst/>
          </a:prstGeom>
          <a:solidFill>
            <a:srgbClr val="E8F1FA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C3C3C"/>
                </a:solidFill>
                <a:latin typeface="Calibri"/>
              </a:rPr>
              <a:t>Imagen → patches → embeddings</a:t>
            </a:r>
          </a:p>
        </p:txBody>
      </p:sp>
      <p:sp>
        <p:nvSpPr>
          <p:cNvPr id="7" name="Document 6"/>
          <p:cNvSpPr/>
          <p:nvPr/>
        </p:nvSpPr>
        <p:spPr>
          <a:xfrm>
            <a:off x="8961120" y="2587752"/>
            <a:ext cx="320040" cy="256032"/>
          </a:xfrm>
          <a:prstGeom prst="flowChartDocumen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0" y="2880360"/>
            <a:ext cx="4206240" cy="566928"/>
          </a:xfrm>
          <a:prstGeom prst="rect">
            <a:avLst/>
          </a:prstGeom>
          <a:solidFill>
            <a:srgbClr val="E8F1FA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C3C3C"/>
                </a:solidFill>
                <a:latin typeface="Calibri"/>
              </a:rPr>
              <a:t>Stage 1</a:t>
            </a:r>
          </a:p>
        </p:txBody>
      </p:sp>
      <p:sp>
        <p:nvSpPr>
          <p:cNvPr id="9" name="Document 8"/>
          <p:cNvSpPr/>
          <p:nvPr/>
        </p:nvSpPr>
        <p:spPr>
          <a:xfrm>
            <a:off x="8961120" y="3456432"/>
            <a:ext cx="320040" cy="256032"/>
          </a:xfrm>
          <a:prstGeom prst="flowChartDocumen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0" y="3749040"/>
            <a:ext cx="4206240" cy="566928"/>
          </a:xfrm>
          <a:prstGeom prst="rect">
            <a:avLst/>
          </a:prstGeom>
          <a:solidFill>
            <a:srgbClr val="E8F1FA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C3C3C"/>
                </a:solidFill>
                <a:latin typeface="Calibri"/>
              </a:rPr>
              <a:t>Stage 2 (menos vectores, más dim)</a:t>
            </a:r>
          </a:p>
        </p:txBody>
      </p:sp>
      <p:sp>
        <p:nvSpPr>
          <p:cNvPr id="11" name="Document 10"/>
          <p:cNvSpPr/>
          <p:nvPr/>
        </p:nvSpPr>
        <p:spPr>
          <a:xfrm>
            <a:off x="8961120" y="4325112"/>
            <a:ext cx="320040" cy="256032"/>
          </a:xfrm>
          <a:prstGeom prst="flowChartDocumen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0" y="4617720"/>
            <a:ext cx="4206240" cy="566928"/>
          </a:xfrm>
          <a:prstGeom prst="rect">
            <a:avLst/>
          </a:prstGeom>
          <a:solidFill>
            <a:srgbClr val="E8F1FA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C3C3C"/>
                </a:solidFill>
                <a:latin typeface="Calibri"/>
              </a:rPr>
              <a:t>Stage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40880" y="5486400"/>
            <a:ext cx="4206240" cy="566928"/>
          </a:xfrm>
          <a:prstGeom prst="rect">
            <a:avLst/>
          </a:prstGeom>
          <a:solidFill>
            <a:srgbClr val="CFE6D4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C3C3C"/>
                </a:solidFill>
                <a:latin typeface="Calibri"/>
              </a:rPr>
              <a:t>Stage 4 → secuencia (N, 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4. Decoder — Transformer autoregresivo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2560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E8F1FA"/>
                </a:solidFill>
                <a:latin typeface="Calibri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56692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E59"/>
                </a:solidFill>
                <a:latin typeface="Calibri"/>
              </a:rPr>
              <a:t>¿Qué es?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Un Transformer decoder estándar que genera la salida token por token.</a:t>
            </a:r>
          </a:p>
          <a:p>
            <a:pPr algn="l">
              <a:spcBef>
                <a:spcPts val="1400"/>
              </a:spcBef>
            </a:pPr>
            <a:r>
              <a:rPr sz="2200" b="1">
                <a:solidFill>
                  <a:srgbClr val="0B2E59"/>
                </a:solidFill>
                <a:latin typeface="Calibri"/>
              </a:rPr>
              <a:t>¿Cómo funciona?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Genera texto de forma autoregresiva (un token a la vez)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Positional encoding para conocer la posición de cada token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Self-attention sobre los tokens ya generados</a:t>
            </a:r>
          </a:p>
          <a:p>
            <a:pPr algn="l">
              <a:spcBef>
                <a:spcPts val="600"/>
              </a:spcBef>
            </a:pPr>
            <a:r>
              <a:rPr sz="1800" b="1">
                <a:solidFill>
                  <a:srgbClr val="E87A1E"/>
                </a:solidFill>
                <a:latin typeface="Calibri"/>
              </a:rPr>
              <a:t>•  Cross-attention sobre la salida del encoder (la imagen)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1F6FB2"/>
                </a:solidFill>
                <a:latin typeface="Calibri"/>
              </a:rPr>
              <a:t>•  Está condicionado al encoder: genera según la representación visual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0" y="1371600"/>
            <a:ext cx="4572000" cy="50292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Una capa del decoder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0" y="2057400"/>
            <a:ext cx="4206240" cy="640080"/>
          </a:xfrm>
          <a:prstGeom prst="rect">
            <a:avLst/>
          </a:prstGeom>
          <a:solidFill>
            <a:srgbClr val="E8F1FA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C3C3C"/>
                </a:solidFill>
                <a:latin typeface="Calibri"/>
              </a:rPr>
              <a:t>1) Self-Attention (tokens previos)</a:t>
            </a:r>
          </a:p>
        </p:txBody>
      </p:sp>
      <p:sp>
        <p:nvSpPr>
          <p:cNvPr id="7" name="Document 6"/>
          <p:cNvSpPr/>
          <p:nvPr/>
        </p:nvSpPr>
        <p:spPr>
          <a:xfrm>
            <a:off x="8961120" y="2724912"/>
            <a:ext cx="320040" cy="228600"/>
          </a:xfrm>
          <a:prstGeom prst="flowChartDocumen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040880" y="3063240"/>
            <a:ext cx="4206240" cy="640080"/>
          </a:xfrm>
          <a:prstGeom prst="rect">
            <a:avLst/>
          </a:prstGeom>
          <a:solidFill>
            <a:srgbClr val="FCE4CB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E87A1E"/>
                </a:solidFill>
                <a:latin typeface="Calibri"/>
              </a:rPr>
              <a:t>2) CROSS-ATTENTION (mira la imagen)</a:t>
            </a:r>
          </a:p>
        </p:txBody>
      </p:sp>
      <p:sp>
        <p:nvSpPr>
          <p:cNvPr id="9" name="Document 8"/>
          <p:cNvSpPr/>
          <p:nvPr/>
        </p:nvSpPr>
        <p:spPr>
          <a:xfrm>
            <a:off x="8961120" y="3730752"/>
            <a:ext cx="320040" cy="228600"/>
          </a:xfrm>
          <a:prstGeom prst="flowChartDocumen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40880" y="4069080"/>
            <a:ext cx="4206240" cy="640080"/>
          </a:xfrm>
          <a:prstGeom prst="rect">
            <a:avLst/>
          </a:prstGeom>
          <a:solidFill>
            <a:srgbClr val="E8F1FA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0">
                <a:solidFill>
                  <a:srgbClr val="3C3C3C"/>
                </a:solidFill>
                <a:latin typeface="Calibri"/>
              </a:rPr>
              <a:t>3) Feed-Forward (FFN)</a:t>
            </a:r>
          </a:p>
        </p:txBody>
      </p:sp>
      <p:sp>
        <p:nvSpPr>
          <p:cNvPr id="11" name="Document 10"/>
          <p:cNvSpPr/>
          <p:nvPr/>
        </p:nvSpPr>
        <p:spPr>
          <a:xfrm>
            <a:off x="8961120" y="4736592"/>
            <a:ext cx="320040" cy="228600"/>
          </a:xfrm>
          <a:prstGeom prst="flowChartDocumen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040880" y="5074920"/>
            <a:ext cx="4206240" cy="640080"/>
          </a:xfrm>
          <a:prstGeom prst="rect">
            <a:avLst/>
          </a:prstGeom>
          <a:solidFill>
            <a:srgbClr val="CFE6D4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C3C3C"/>
                </a:solidFill>
                <a:latin typeface="Calibri"/>
              </a:rPr>
              <a:t>→ Predice el siguiente token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5. Cross-Attention — el punto clave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2560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E8F1FA"/>
                </a:solidFill>
                <a:latin typeface="Calibri"/>
              </a:rP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291840" cy="914400"/>
          </a:xfrm>
          <a:prstGeom prst="rect">
            <a:avLst/>
          </a:prstGeom>
          <a:solidFill>
            <a:srgbClr val="E8F1FA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2E59"/>
                </a:solidFill>
                <a:latin typeface="Calibri"/>
              </a:rPr>
              <a:t>DECODER (texto)
Token en curso: "total"</a:t>
            </a:r>
          </a:p>
        </p:txBody>
      </p:sp>
      <p:sp>
        <p:nvSpPr>
          <p:cNvPr id="5" name="Rectangle 4"/>
          <p:cNvSpPr/>
          <p:nvPr/>
        </p:nvSpPr>
        <p:spPr>
          <a:xfrm>
            <a:off x="8138160" y="1463040"/>
            <a:ext cx="3291840" cy="914400"/>
          </a:xfrm>
          <a:prstGeom prst="rect">
            <a:avLst/>
          </a:prstGeom>
          <a:solidFill>
            <a:srgbClr val="E8F1FA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2E59"/>
                </a:solidFill>
                <a:latin typeface="Calibri"/>
              </a:rPr>
              <a:t>ENCODER (imagen)
Vectores visuales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3291840" cy="822960"/>
          </a:xfrm>
          <a:prstGeom prst="rect">
            <a:avLst/>
          </a:prstGeom>
          <a:solidFill>
            <a:srgbClr val="FCE4CB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87A1E"/>
                </a:solidFill>
                <a:latin typeface="Calibri"/>
              </a:rPr>
              <a:t>Query (Q)
(del decoder)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8138160" y="2743200"/>
            <a:ext cx="3291840" cy="822960"/>
          </a:xfrm>
          <a:prstGeom prst="rect">
            <a:avLst/>
          </a:prstGeom>
          <a:solidFill>
            <a:srgbClr val="FCE4CB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E87A1E"/>
                </a:solidFill>
                <a:latin typeface="Calibri"/>
              </a:rPr>
              <a:t>Key (K) + Value (V)
(del encoder)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2743200"/>
            <a:ext cx="3108960" cy="822960"/>
          </a:xfrm>
          <a:prstGeom prst="rec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ATENCIÓN
Q · K → pesos → V</a:t>
            </a:r>
          </a:p>
        </p:txBody>
      </p:sp>
      <p:sp>
        <p:nvSpPr>
          <p:cNvPr id="9" name="Internal Storage 8"/>
          <p:cNvSpPr/>
          <p:nvPr/>
        </p:nvSpPr>
        <p:spPr>
          <a:xfrm>
            <a:off x="4069080" y="2880360"/>
            <a:ext cx="457200" cy="411480"/>
          </a:xfrm>
          <a:prstGeom prst="flowChartInternalStorage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nternal Storage 9"/>
          <p:cNvSpPr/>
          <p:nvPr/>
        </p:nvSpPr>
        <p:spPr>
          <a:xfrm>
            <a:off x="7635240" y="2880360"/>
            <a:ext cx="457200" cy="411480"/>
          </a:xfrm>
          <a:prstGeom prst="flowChartInternalStorage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3931920"/>
            <a:ext cx="3108960" cy="822960"/>
          </a:xfrm>
          <a:prstGeom prst="rect">
            <a:avLst/>
          </a:prstGeom>
          <a:solidFill>
            <a:srgbClr val="CFE6D4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B2E59"/>
                </a:solidFill>
                <a:latin typeface="Calibri"/>
              </a:rPr>
              <a:t>Context vector
(qué mirar en la imagen)</a:t>
            </a:r>
          </a:p>
        </p:txBody>
      </p:sp>
      <p:sp>
        <p:nvSpPr>
          <p:cNvPr id="12" name="Document 11"/>
          <p:cNvSpPr/>
          <p:nvPr/>
        </p:nvSpPr>
        <p:spPr>
          <a:xfrm>
            <a:off x="5852160" y="3584448"/>
            <a:ext cx="365760" cy="320040"/>
          </a:xfrm>
          <a:prstGeom prst="flowChartDocumen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106984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Calibri"/>
              </a:rPr>
              <a:t>El decoder "pregunta" a la imagen qué mirar (Query) y el encoder "responde" con la información visual relevante (Key, Value).</a:t>
            </a:r>
          </a:p>
          <a:p>
            <a:pPr algn="l">
              <a:spcBef>
                <a:spcPts val="600"/>
              </a:spcBef>
            </a:pPr>
            <a:r>
              <a:rPr sz="1700" b="1">
                <a:solidFill>
                  <a:srgbClr val="E87A1E"/>
                </a:solidFill>
                <a:latin typeface="Calibri"/>
              </a:rPr>
              <a:t>→ Es la conexión que permite al decoder ENFOCARSE en la parte de la imagen relevante para el token que va a generar.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1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5. Cross-Attention — ejemplo intuitivo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2560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E8F1FA"/>
                </a:solidFill>
                <a:latin typeface="Calibri"/>
              </a:rP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463040"/>
            <a:ext cx="996696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0B2E59"/>
                </a:solidFill>
                <a:latin typeface="Calibri"/>
              </a:rPr>
              <a:t>El decoder quiere generar el token  "total: $50.00"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108960"/>
            <a:ext cx="99669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C3C3C"/>
                </a:solidFill>
                <a:latin typeface="Calibri"/>
              </a:rPr>
              <a:t>•  1)  El decoder lanza una "pregunta" (Query): ¿dónde está el total?</a:t>
            </a:r>
          </a:p>
          <a:p>
            <a:pPr algn="l">
              <a:spcBef>
                <a:spcPts val="1000"/>
              </a:spcBef>
            </a:pPr>
            <a:r>
              <a:rPr sz="2000" b="0">
                <a:solidFill>
                  <a:srgbClr val="3C3C3C"/>
                </a:solidFill>
                <a:latin typeface="Calibri"/>
              </a:rPr>
              <a:t>•  2)  La imagen responde (Key, Value): estos vectores corresponden a la zona del total</a:t>
            </a:r>
          </a:p>
          <a:p>
            <a:pPr algn="l">
              <a:spcBef>
                <a:spcPts val="1000"/>
              </a:spcBef>
            </a:pPr>
            <a:r>
              <a:rPr sz="2000" b="0">
                <a:solidFill>
                  <a:srgbClr val="3C3C3C"/>
                </a:solidFill>
                <a:latin typeface="Calibri"/>
              </a:rPr>
              <a:t>•  3)  La atención cruzada hace que el modelo se ENFOQUE en esa región</a:t>
            </a:r>
          </a:p>
          <a:p>
            <a:pPr algn="l">
              <a:spcBef>
                <a:spcPts val="1000"/>
              </a:spcBef>
            </a:pPr>
            <a:r>
              <a:rPr sz="2000" b="1">
                <a:solidFill>
                  <a:srgbClr val="2E8B57"/>
                </a:solidFill>
                <a:latin typeface="Calibri"/>
              </a:rPr>
              <a:t>•  4)  Con ese contexto visual, el decoder genera el token correcto: "50.00"</a:t>
            </a:r>
          </a:p>
          <a:p>
            <a:pPr algn="l">
              <a:spcBef>
                <a:spcPts val="1400"/>
              </a:spcBef>
            </a:pPr>
            <a:r>
              <a:rPr sz="1700" b="1">
                <a:solidFill>
                  <a:srgbClr val="E87A1E"/>
                </a:solidFill>
                <a:latin typeface="Calibri"/>
              </a:rPr>
              <a:t>Sin cross-attention, el decoder generaría texto "a ciegas", sin mirar la imagen.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6. Flujo completo del modelo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2560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E8F1FA"/>
                </a:solidFill>
                <a:latin typeface="Calibri"/>
              </a:rP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1234440"/>
            <a:ext cx="9784080" cy="566928"/>
          </a:xfrm>
          <a:prstGeom prst="rect">
            <a:avLst/>
          </a:prstGeom>
          <a:solidFill>
            <a:srgbClr val="E8F1FA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3C3C3C"/>
                </a:solidFill>
                <a:latin typeface="Calibri"/>
              </a:rPr>
              <a:t>1. IMAGEN DE ENTRADA  (ej. 2560×1920 px, RGB)</a:t>
            </a:r>
          </a:p>
        </p:txBody>
      </p:sp>
      <p:sp>
        <p:nvSpPr>
          <p:cNvPr id="5" name="Document 4"/>
          <p:cNvSpPr/>
          <p:nvPr/>
        </p:nvSpPr>
        <p:spPr>
          <a:xfrm>
            <a:off x="5852160" y="1810512"/>
            <a:ext cx="320040" cy="164592"/>
          </a:xfrm>
          <a:prstGeom prst="flowChartDocumen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720" y="1984248"/>
            <a:ext cx="9784080" cy="566928"/>
          </a:xfrm>
          <a:prstGeom prst="rect">
            <a:avLst/>
          </a:prstGeom>
          <a:solidFill>
            <a:srgbClr val="E8F1FA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3C3C3C"/>
                </a:solidFill>
                <a:latin typeface="Calibri"/>
              </a:rPr>
              <a:t>2. PATCHES  →  la imagen se divide en parches (ej. 16×16 px)</a:t>
            </a:r>
          </a:p>
        </p:txBody>
      </p:sp>
      <p:sp>
        <p:nvSpPr>
          <p:cNvPr id="7" name="Document 6"/>
          <p:cNvSpPr/>
          <p:nvPr/>
        </p:nvSpPr>
        <p:spPr>
          <a:xfrm>
            <a:off x="5852160" y="2560320"/>
            <a:ext cx="320040" cy="164592"/>
          </a:xfrm>
          <a:prstGeom prst="flowChartDocumen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88720" y="2734056"/>
            <a:ext cx="9784080" cy="566928"/>
          </a:xfrm>
          <a:prstGeom prst="rect">
            <a:avLst/>
          </a:prstGeom>
          <a:solidFill>
            <a:srgbClr val="E8F1FA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3C3C3C"/>
                </a:solidFill>
                <a:latin typeface="Calibri"/>
              </a:rPr>
              <a:t>3. EMBEDDINGS  →  cada patch se proyecta a un vector (ej. dim 768)</a:t>
            </a:r>
          </a:p>
        </p:txBody>
      </p:sp>
      <p:sp>
        <p:nvSpPr>
          <p:cNvPr id="9" name="Document 8"/>
          <p:cNvSpPr/>
          <p:nvPr/>
        </p:nvSpPr>
        <p:spPr>
          <a:xfrm>
            <a:off x="5852160" y="3310127"/>
            <a:ext cx="320040" cy="164592"/>
          </a:xfrm>
          <a:prstGeom prst="flowChartDocumen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88720" y="3483863"/>
            <a:ext cx="9784080" cy="566928"/>
          </a:xfrm>
          <a:prstGeom prst="rect">
            <a:avLst/>
          </a:prstGeom>
          <a:solidFill>
            <a:srgbClr val="D6E7F7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3C3C3C"/>
                </a:solidFill>
                <a:latin typeface="Calibri"/>
              </a:rPr>
              <a:t>4. ENCODER (Swin, 4 stages)  →  secuencia de vectores (N, D)</a:t>
            </a:r>
          </a:p>
        </p:txBody>
      </p:sp>
      <p:sp>
        <p:nvSpPr>
          <p:cNvPr id="11" name="Document 10"/>
          <p:cNvSpPr/>
          <p:nvPr/>
        </p:nvSpPr>
        <p:spPr>
          <a:xfrm>
            <a:off x="5852160" y="4059935"/>
            <a:ext cx="320040" cy="164592"/>
          </a:xfrm>
          <a:prstGeom prst="flowChartDocumen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88720" y="4233672"/>
            <a:ext cx="9784080" cy="566928"/>
          </a:xfrm>
          <a:prstGeom prst="rect">
            <a:avLst/>
          </a:prstGeom>
          <a:solidFill>
            <a:srgbClr val="FCE4CB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1">
                <a:solidFill>
                  <a:srgbClr val="E87A1E"/>
                </a:solidFill>
                <a:latin typeface="Calibri"/>
              </a:rPr>
              <a:t>5. CROSS-ATTENTION  →  el decoder consulta los vectores de la imagen</a:t>
            </a:r>
          </a:p>
        </p:txBody>
      </p:sp>
      <p:sp>
        <p:nvSpPr>
          <p:cNvPr id="13" name="Document 12"/>
          <p:cNvSpPr/>
          <p:nvPr/>
        </p:nvSpPr>
        <p:spPr>
          <a:xfrm>
            <a:off x="5852160" y="4809744"/>
            <a:ext cx="320040" cy="164592"/>
          </a:xfrm>
          <a:prstGeom prst="flowChartDocument">
            <a:avLst/>
          </a:prstGeom>
          <a:solidFill>
            <a:srgbClr val="E87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88720" y="4983480"/>
            <a:ext cx="9784080" cy="566928"/>
          </a:xfrm>
          <a:prstGeom prst="rect">
            <a:avLst/>
          </a:prstGeom>
          <a:solidFill>
            <a:srgbClr val="D6E7F7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3C3C3C"/>
                </a:solidFill>
                <a:latin typeface="Calibri"/>
              </a:rPr>
              <a:t>6. DECODER (self-attn + cross-attn + FFN)  →  genera un token</a:t>
            </a:r>
          </a:p>
        </p:txBody>
      </p:sp>
      <p:sp>
        <p:nvSpPr>
          <p:cNvPr id="15" name="Document 14"/>
          <p:cNvSpPr/>
          <p:nvPr/>
        </p:nvSpPr>
        <p:spPr>
          <a:xfrm>
            <a:off x="5852160" y="5559552"/>
            <a:ext cx="320040" cy="164592"/>
          </a:xfrm>
          <a:prstGeom prst="flowChartDocumen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" y="5733288"/>
            <a:ext cx="9784080" cy="566928"/>
          </a:xfrm>
          <a:prstGeom prst="rect">
            <a:avLst/>
          </a:prstGeom>
          <a:solidFill>
            <a:srgbClr val="CFE6D4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500" b="0">
                <a:solidFill>
                  <a:srgbClr val="3C3C3C"/>
                </a:solidFill>
                <a:latin typeface="Calibri"/>
              </a:rPr>
              <a:t>7. REPITE autoregresivamente hasta &lt;eos&gt;  →  JSON estructurado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7. Salida (Output)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2560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E8F1FA"/>
                </a:solidFill>
                <a:latin typeface="Calibri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3C3C3C"/>
                </a:solidFill>
                <a:latin typeface="Calibri"/>
              </a:rPr>
              <a:t>El modelo produce una secuencia de tokens que se decodifica a texto o a JSON estructurado.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1F6FB2"/>
                </a:solidFill>
                <a:latin typeface="Calibri"/>
              </a:rPr>
              <a:t>Puede usarse como texto libre o como JSON con campos (clave: valor).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2834640"/>
            <a:ext cx="9418320" cy="292608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200" b="0">
                <a:solidFill>
                  <a:srgbClr val="9CDCFE"/>
                </a:solidFill>
                <a:latin typeface="Calibri"/>
              </a:rPr>
              <a:t>{
   "placa": "A123BC",
   "provincia": "DN",
   "anio": "2020"
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85216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Calibri"/>
              </a:rPr>
              <a:t>Ejemplo: de una imagen de matrícula → JSON con placa, provincia y año.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8. Entrenamiento y pre-entrenamiento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2560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E8F1FA"/>
                </a:solidFill>
                <a:latin typeface="Calibri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E59"/>
                </a:solidFill>
                <a:latin typeface="Calibri"/>
              </a:rPr>
              <a:t>Pre-entrenamiento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Tarea "leer" documentos: aprende a transcribir texto a partir de imágenes (documentos sintéticos + reales con sus transcripciones).</a:t>
            </a:r>
          </a:p>
          <a:p>
            <a:pPr algn="l">
              <a:spcBef>
                <a:spcPts val="1400"/>
              </a:spcBef>
            </a:pPr>
            <a:r>
              <a:rPr sz="2200" b="1">
                <a:solidFill>
                  <a:srgbClr val="0B2E59"/>
                </a:solidFill>
                <a:latin typeface="Calibri"/>
              </a:rPr>
              <a:t>Fine-tuning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Se adapta a una tarea concreta (facturas, matrículas, recibos) con pares imagen → salida estructurada.</a:t>
            </a:r>
          </a:p>
          <a:p>
            <a:pPr algn="l">
              <a:spcBef>
                <a:spcPts val="1400"/>
              </a:spcBef>
            </a:pPr>
            <a:r>
              <a:rPr sz="2200" b="1">
                <a:solidFill>
                  <a:srgbClr val="0B2E59"/>
                </a:solidFill>
                <a:latin typeface="Calibri"/>
              </a:rPr>
              <a:t>Objetivo de entrenamiento</a:t>
            </a:r>
          </a:p>
          <a:p>
            <a:pPr algn="l">
              <a:spcBef>
                <a:spcPts val="6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Cross-entropy sobre los tokens generados (teacher forcing).</a:t>
            </a:r>
          </a:p>
          <a:p>
            <a:pPr algn="l">
              <a:spcBef>
                <a:spcPts val="1000"/>
              </a:spcBef>
            </a:pPr>
            <a:r>
              <a:rPr sz="1800" b="1">
                <a:solidFill>
                  <a:srgbClr val="E87A1E"/>
                </a:solidFill>
                <a:latin typeface="Calibri"/>
              </a:rPr>
              <a:t>•  Clave: NUNCA se le pasa texto OCR. Solo se le da la IMAGEN y la SECUENCIA OBJETIVO; el modelo aprende el mapeo imagen → texto/JSON de punta a punta.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9. Resultados y tipos de documentos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2560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E8F1FA"/>
                </a:solidFill>
                <a:latin typeface="Calibri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E59"/>
                </a:solidFill>
                <a:latin typeface="Calibri"/>
              </a:rPr>
              <a:t>Resultados del paper (aprox.)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00200"/>
          <a:ext cx="53949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8320"/>
                <a:gridCol w="1798320"/>
                <a:gridCol w="1798320"/>
              </a:tblGrid>
              <a:tr h="493776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Tarea / Dataset</a:t>
                      </a:r>
                    </a:p>
                  </a:txBody>
                  <a:tcPr>
                    <a:solidFill>
                      <a:srgbClr val="0B2E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Métrica</a:t>
                      </a:r>
                    </a:p>
                  </a:txBody>
                  <a:tcPr>
                    <a:solidFill>
                      <a:srgbClr val="0B2E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Donut</a:t>
                      </a:r>
                    </a:p>
                  </a:txBody>
                  <a:tcPr>
                    <a:solidFill>
                      <a:srgbClr val="0B2E5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C3C3C"/>
                          </a:solidFill>
                        </a:rPr>
                        <a:t>DocVQA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C3C3C"/>
                          </a:solidFill>
                        </a:rPr>
                        <a:t>ANLS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C3C3C"/>
                          </a:solidFill>
                        </a:rPr>
                        <a:t>~67.5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C3C3C"/>
                          </a:solidFill>
                        </a:rPr>
                        <a:t>CORD (recibos)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C3C3C"/>
                          </a:solidFill>
                        </a:rPr>
                        <a:t>TED-Acc.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C3C3C"/>
                          </a:solidFill>
                        </a:rPr>
                        <a:t>~91.6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C3C3C"/>
                          </a:solidFill>
                        </a:rPr>
                        <a:t>SROIE (recibos)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C3C3C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C3C3C"/>
                          </a:solidFill>
                        </a:rPr>
                        <a:t>~83.2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C3C3C"/>
                          </a:solidFill>
                        </a:rPr>
                        <a:t>RVL-CDIP (clasif.)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C3C3C"/>
                          </a:solidFill>
                        </a:rPr>
                        <a:t>Accuracy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C3C3C"/>
                          </a:solidFill>
                        </a:rPr>
                        <a:t>~95.3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309360" y="11430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B2E59"/>
                </a:solidFill>
                <a:latin typeface="Calibri"/>
              </a:rPr>
              <a:t>Tipos de documentos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09360" y="1600200"/>
          <a:ext cx="53949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</a:tblGrid>
              <a:tr h="493776"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Documento</a:t>
                      </a:r>
                    </a:p>
                  </a:txBody>
                  <a:tcPr>
                    <a:solidFill>
                      <a:srgbClr val="0B2E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300">
                          <a:solidFill>
                            <a:srgbClr val="FFFFFF"/>
                          </a:solidFill>
                        </a:rPr>
                        <a:t>Qué extrae</a:t>
                      </a:r>
                    </a:p>
                  </a:txBody>
                  <a:tcPr>
                    <a:solidFill>
                      <a:srgbClr val="0B2E59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C3C3C"/>
                          </a:solidFill>
                        </a:rPr>
                        <a:t>Matrícula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C3C3C"/>
                          </a:solidFill>
                        </a:rPr>
                        <a:t>Placa, provincia, año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C3C3C"/>
                          </a:solidFill>
                        </a:rPr>
                        <a:t>Factura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C3C3C"/>
                          </a:solidFill>
                        </a:rPr>
                        <a:t>Total, fecha, cliente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C3C3C"/>
                          </a:solidFill>
                        </a:rPr>
                        <a:t>Ticket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C3C3C"/>
                          </a:solidFill>
                        </a:rPr>
                        <a:t>Productos, total, fecha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C3C3C"/>
                          </a:solidFill>
                        </a:rPr>
                        <a:t>Formulario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3C3C3C"/>
                          </a:solidFill>
                        </a:rPr>
                        <a:t>Campos estructurados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3891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Calibri"/>
              </a:rPr>
              <a:t>Donut es competitivo con métodos basados en OCR, pero más rápido y sin depender de un motor OCR externo.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1F6FB2"/>
                </a:solidFill>
                <a:latin typeface="Calibri"/>
              </a:rPr>
              <a:t>Los valores exactos dependen del setup y del checkpoint usado.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10. Ventajas, limitaciones y conclusión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2560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E8F1FA"/>
                </a:solidFill>
                <a:latin typeface="Calibri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2E8B57"/>
                </a:solidFill>
                <a:latin typeface="Calibri"/>
              </a:rPr>
              <a:t>Ventajas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Sin OCR externo: menos errores encadenados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End-to-end, más simple de mantener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Salida directa en JSON estructurado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Multilingüe (no depende de OCR por idioma)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Más rápido en inferencia que pipelines con OCR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34440"/>
            <a:ext cx="5394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03939"/>
                </a:solidFill>
                <a:latin typeface="Calibri"/>
              </a:rPr>
              <a:t>Limitaciones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Sensible a imágenes de muy baja calidad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Requiere fine-tuning por tipo de documento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Costo de entrenamiento alto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Puede fallar con layouts muy fuera de distribución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Valor agregado: visualizar el cross-attention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2560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E8F1FA"/>
                </a:solidFill>
                <a:latin typeface="Calibri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3C3C3C"/>
                </a:solidFill>
                <a:latin typeface="Calibri"/>
              </a:rPr>
              <a:t>Superponemos un mapa de calor sobre la imagen para ver QUÉ mira el modelo al generar la salida.</a:t>
            </a:r>
          </a:p>
          <a:p>
            <a:pPr algn="l">
              <a:spcBef>
                <a:spcPts val="600"/>
              </a:spcBef>
            </a:pPr>
            <a:r>
              <a:rPr sz="1600" b="0">
                <a:solidFill>
                  <a:srgbClr val="1F6FB2"/>
                </a:solidFill>
                <a:latin typeface="Calibri"/>
              </a:rPr>
              <a:t>Se promedian los pesos de cross-attention (pasos × capas × cabezas) y se reproyectan a la cuadrícula de patches.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743200"/>
            <a:ext cx="329184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0B2E59"/>
                </a:solidFill>
                <a:latin typeface="Calibri"/>
              </a:rPr>
              <a:t>1) Imagen
de entrada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2743200"/>
            <a:ext cx="3291840" cy="2743200"/>
          </a:xfrm>
          <a:prstGeom prst="rect">
            <a:avLst/>
          </a:prstGeom>
          <a:solidFill>
            <a:srgbClr val="FCE4CB"/>
          </a:solidFill>
          <a:ln w="19050">
            <a:solidFill>
              <a:srgbClr val="E87A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E87A1E"/>
                </a:solidFill>
                <a:latin typeface="Calibri"/>
              </a:rPr>
              <a:t>2) Mapa de
cross-attention
(zonas cálidas =
más atención)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2743200"/>
            <a:ext cx="3291840" cy="2743200"/>
          </a:xfrm>
          <a:prstGeom prst="rect">
            <a:avLst/>
          </a:prstGeom>
          <a:solidFill>
            <a:srgbClr val="CFE6D4"/>
          </a:solidFill>
          <a:ln w="19050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2E8B57"/>
                </a:solidFill>
                <a:latin typeface="Calibri"/>
              </a:rPr>
              <a:t>3) Overlay
(atención sobre
la imagen)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3C3C3C"/>
                </a:solidFill>
                <a:latin typeface="Calibri"/>
              </a:rPr>
              <a:t>→ Evidencia visual de que el cross-attention conecta cada token generado con la región relevante de la imagen.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1F6FB2"/>
                </a:solidFill>
                <a:latin typeface="Calibri"/>
              </a:rPr>
              <a:t>Generado por: 04_visualizar_cross_attention.py  (y sección 7.3 del notebook).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Valor agregado: experimentos con distintos documentos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2560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E8F1FA"/>
                </a:solidFill>
                <a:latin typeface="Calibri"/>
              </a:rPr>
              <a:t>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371600"/>
          <a:ext cx="103327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594360"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Documento</a:t>
                      </a:r>
                    </a:p>
                  </a:txBody>
                  <a:tcPr>
                    <a:solidFill>
                      <a:srgbClr val="0B2E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Ejemplo</a:t>
                      </a:r>
                    </a:p>
                  </a:txBody>
                  <a:tcPr>
                    <a:solidFill>
                      <a:srgbClr val="0B2E5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600">
                          <a:solidFill>
                            <a:srgbClr val="FFFFFF"/>
                          </a:solidFill>
                        </a:rPr>
                        <a:t>Qué extrae Donut</a:t>
                      </a:r>
                    </a:p>
                  </a:txBody>
                  <a:tcPr>
                    <a:solidFill>
                      <a:srgbClr val="0B2E5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C3C3C"/>
                          </a:solidFill>
                        </a:rPr>
                        <a:t>Matrícula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C3C3C"/>
                          </a:solidFill>
                        </a:rPr>
                        <a:t>Placa A123BC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C3C3C"/>
                          </a:solidFill>
                        </a:rPr>
                        <a:t>Placa, provincia, año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C3C3C"/>
                          </a:solidFill>
                        </a:rPr>
                        <a:t>Factura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C3C3C"/>
                          </a:solidFill>
                        </a:rPr>
                        <a:t>Factura #123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C3C3C"/>
                          </a:solidFill>
                        </a:rPr>
                        <a:t>Total, fecha, cliente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C3C3C"/>
                          </a:solidFill>
                        </a:rPr>
                        <a:t>Ticket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C3C3C"/>
                          </a:solidFill>
                        </a:rPr>
                        <a:t>Ticket #456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C3C3C"/>
                          </a:solidFill>
                        </a:rPr>
                        <a:t>Productos, total, fecha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C3C3C"/>
                          </a:solidFill>
                        </a:rPr>
                        <a:t>Formulario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C3C3C"/>
                          </a:solidFill>
                        </a:rPr>
                        <a:t>Formulario 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C3C3C"/>
                          </a:solidFill>
                        </a:rPr>
                        <a:t>Campos estructurados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C3C3C"/>
                          </a:solidFill>
                        </a:rPr>
                        <a:t>Pasaporte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C3C3C"/>
                          </a:solidFill>
                        </a:rPr>
                        <a:t>Documento ID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C3C3C"/>
                          </a:solidFill>
                        </a:rPr>
                        <a:t>Información personal</a:t>
                      </a:r>
                    </a:p>
                  </a:txBody>
                  <a:tcPr>
                    <a:solidFill>
                      <a:srgbClr val="E8F1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12064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3C3C3C"/>
                </a:solidFill>
                <a:latin typeface="Calibri"/>
              </a:rPr>
              <a:t>El mismo modelo, distintas salidas: Donut adapta la extracción al tipo de documento (con fine-tuning por dominio).</a:t>
            </a:r>
          </a:p>
          <a:p>
            <a:pPr algn="l">
              <a:spcBef>
                <a:spcPts val="600"/>
              </a:spcBef>
            </a:pPr>
            <a:r>
              <a:rPr sz="1500" b="0">
                <a:solidFill>
                  <a:srgbClr val="1F6FB2"/>
                </a:solidFill>
                <a:latin typeface="Calibri"/>
              </a:rPr>
              <a:t>Idea de experimento: pasar una factura, una matrícula y un ticket, y comparar el JSON extraído en cada caso.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B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0" wrap="square"/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Valor agregado: análisis de errores y comparación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38560" y="256032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1">
                <a:solidFill>
                  <a:srgbClr val="E8F1FA"/>
                </a:solidFill>
                <a:latin typeface="Calibri"/>
              </a:rP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3444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03939"/>
                </a:solidFill>
                <a:latin typeface="Calibri"/>
              </a:rPr>
              <a:t>¿Cuándo falla Donut?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Imágenes de muy baja calidad o borrosas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Layouts muy distintos a los del entrenamiento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Idiomas/formatos no vistos en fine-tuning</a:t>
            </a:r>
          </a:p>
          <a:p>
            <a:pPr algn="l">
              <a:spcBef>
                <a:spcPts val="800"/>
              </a:spcBef>
            </a:pPr>
            <a:r>
              <a:rPr sz="1800" b="0">
                <a:solidFill>
                  <a:srgbClr val="3C3C3C"/>
                </a:solidFill>
                <a:latin typeface="Calibri"/>
              </a:rPr>
              <a:t>•  Campos ambiguos o texto manuscrito difícil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234440"/>
            <a:ext cx="53949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B2E59"/>
                </a:solidFill>
                <a:latin typeface="Calibri"/>
              </a:rPr>
              <a:t>Donut vs OCR tradicional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3C3C3C"/>
                </a:solidFill>
                <a:latin typeface="Calibri"/>
              </a:rPr>
              <a:t>•  OCR: 2 etapas, errores encadenados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3C3C3C"/>
                </a:solidFill>
                <a:latin typeface="Calibri"/>
              </a:rPr>
              <a:t>•  Donut: end-to-end, sin propagación de errores de OCR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3C3C3C"/>
                </a:solidFill>
                <a:latin typeface="Calibri"/>
              </a:rPr>
              <a:t>•  OCR: más rápido de adaptar sin datos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3C3C3C"/>
                </a:solidFill>
                <a:latin typeface="Calibri"/>
              </a:rPr>
              <a:t>•  Donut: mejor en documentos estructurados tras fine-tuning</a:t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3C3C3C"/>
                </a:solidFill>
                <a:latin typeface="Calibri"/>
              </a:rPr>
              <a:t>•  Donut: multilingüe sin cambiar el motor de OCR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E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46304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87A1E"/>
                </a:solidFill>
                <a:latin typeface="Calibri"/>
              </a:rPr>
              <a:t>En una frase</a:t>
            </a:r>
          </a:p>
          <a:p>
            <a:pPr algn="l">
              <a:spcBef>
                <a:spcPts val="1800"/>
              </a:spcBef>
            </a:pPr>
            <a:r>
              <a:rPr sz="2400" b="0">
                <a:solidFill>
                  <a:srgbClr val="FFFFFF"/>
                </a:solidFill>
                <a:latin typeface="Calibri"/>
              </a:rPr>
              <a:t>Donut lee una imagen de documento y genera JSON estructurado, sin OCR: el encoder Swin "ve" la imagen, el decoder genera el texto, y el cross-attention es el puente que deja al decoder mirar la imagen al escribir cada token.</a:t>
            </a:r>
          </a:p>
          <a:p>
            <a:pPr algn="ctr">
              <a:spcBef>
                <a:spcPts val="2400"/>
              </a:spcBef>
            </a:pPr>
            <a:r>
              <a:rPr sz="2200" b="1">
                <a:solidFill>
                  <a:srgbClr val="E8F1FA"/>
                </a:solidFill>
                <a:latin typeface="Calibri"/>
              </a:rPr>
              <a:t>Imagen → Encoder → Cross-Attention → Decoder →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E8F1FA"/>
                </a:solidFill>
                <a:latin typeface="Calibri"/>
              </a:rPr>
              <a:t>Referencias:  arXiv:2111.15664  ·  github.com/clovaai/donut  ·  huggingface.co/naver-clova-ix/donut-base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